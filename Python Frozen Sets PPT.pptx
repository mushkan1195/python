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82" r:id="rId5"/>
    <p:sldId id="397" r:id="rId6"/>
    <p:sldId id="385" r:id="rId7"/>
    <p:sldId id="384" r:id="rId8"/>
    <p:sldId id="396" r:id="rId9"/>
    <p:sldId id="391" r:id="rId10"/>
    <p:sldId id="398" r:id="rId11"/>
    <p:sldId id="39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D8"/>
    <a:srgbClr val="C5EAFF"/>
    <a:srgbClr val="F78CB9"/>
    <a:srgbClr val="F5DA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E4C6E2-0CD3-9D11-B738-DD121B6E072B}" v="1683" dt="2026-05-30T05:24:16.344"/>
    <p1510:client id="{F843F7A5-9911-9DD1-33C5-2CFD0CEF76E3}" v="282" dt="2026-05-30T08:06:32.735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6019" autoAdjust="0"/>
  </p:normalViewPr>
  <p:slideViewPr>
    <p:cSldViewPr snapToGrid="0">
      <p:cViewPr>
        <p:scale>
          <a:sx n="100" d="100"/>
          <a:sy n="100" d="100"/>
        </p:scale>
        <p:origin x="-197" y="-53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594C5-4210-4C0B-94C8-05EA2A273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7B545-CB7B-485B-8848-24C5090D7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E10C-4735-4A0D-A76B-FFFBF4B6ED03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E7E0C-EC12-408D-80EA-659FD94A65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52D70-4DD5-4630-8772-5085BDBF1D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13D6A-DFDD-4B27-9F53-83C0CD9331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63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35CDE-2E0B-4188-96E9-ADF9ACB826A9}" type="datetimeFigureOut">
              <a:rPr lang="en-US" noProof="0" smtClean="0"/>
              <a:t>5/29/2026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D7B6F-E65C-42E7-86A5-0A01C6C9522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543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microsoft.com/office/2007/relationships/hdphoto" Target="../media/hdphoto3.wdp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487DE8-DB1D-7476-8C44-B0F448760DE0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colorful liquid with a purple line&#10;&#10;Description automatically generated">
            <a:extLst>
              <a:ext uri="{FF2B5EF4-FFF2-40B4-BE49-F238E27FC236}">
                <a16:creationId xmlns:a16="http://schemas.microsoft.com/office/drawing/2014/main" id="{1F307DB2-2647-9E7A-A3A3-DBE7504930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680" r="331" b="10324"/>
          <a:stretch/>
        </p:blipFill>
        <p:spPr>
          <a:xfrm>
            <a:off x="84057" y="-9099"/>
            <a:ext cx="11536223" cy="68671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9285B55-78E1-B83E-F9B2-6616677DB95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2007" y="1223587"/>
            <a:ext cx="849017" cy="97803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3B77729-8929-07DD-3A0E-3345E9C7EC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1023" y="4463033"/>
            <a:ext cx="849017" cy="97803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3485D99-86C3-3AD2-8EEC-686C73F6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576" y="1307592"/>
            <a:ext cx="6830568" cy="4498848"/>
          </a:xfrm>
        </p:spPr>
        <p:txBody>
          <a:bodyPr>
            <a:normAutofit/>
          </a:bodyPr>
          <a:lstStyle>
            <a:lvl1pPr algn="ctr">
              <a:lnSpc>
                <a:spcPct val="113000"/>
              </a:lnSpc>
              <a:defRPr sz="5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94F02A7-35D5-9B29-B063-4F40E8DC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91876169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7F71CF-7463-EE58-8673-70FF6E01D635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35BEB45A-F384-D7C9-A3CB-75375E4B69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728" t="-787" r="-1" b="2794"/>
          <a:stretch/>
        </p:blipFill>
        <p:spPr>
          <a:xfrm rot="10800000">
            <a:off x="147778" y="-1"/>
            <a:ext cx="11843113" cy="651628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10DECF3-C5B2-7596-8F56-1A7469F36886}"/>
              </a:ext>
            </a:extLst>
          </p:cNvPr>
          <p:cNvGrpSpPr/>
          <p:nvPr userDrawn="1"/>
        </p:nvGrpSpPr>
        <p:grpSpPr>
          <a:xfrm rot="10800000">
            <a:off x="3039303" y="555295"/>
            <a:ext cx="5490384" cy="5535077"/>
            <a:chOff x="2470935" y="599843"/>
            <a:chExt cx="5490384" cy="5535077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A5C777D-A2B2-306B-76C2-3E13CEC5C96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70935" y="599843"/>
              <a:ext cx="849017" cy="978035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B86DD9E-B0D3-146B-90C5-1F835B4B6F5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2302" y="5156885"/>
              <a:ext cx="849017" cy="97803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5E4463-3EAA-4A1D-028E-15858531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4368" y="1417320"/>
            <a:ext cx="5367528" cy="219456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F31E34-7EF1-9430-2FA0-784F079D7A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368" y="3602736"/>
            <a:ext cx="5367528" cy="9493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661188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A3E124-5798-04DF-D85C-468DB4EC9F07}"/>
              </a:ext>
            </a:extLst>
          </p:cNvPr>
          <p:cNvSpPr/>
          <p:nvPr userDrawn="1"/>
        </p:nvSpPr>
        <p:spPr>
          <a:xfrm>
            <a:off x="803567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827662AF-0BAF-6D15-2F77-9241FBB7D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9398"/>
          <a:stretch>
            <a:fillRect/>
          </a:stretch>
        </p:blipFill>
        <p:spPr>
          <a:xfrm rot="12600000">
            <a:off x="-1186695" y="-47254"/>
            <a:ext cx="8514377" cy="6482357"/>
          </a:xfrm>
          <a:custGeom>
            <a:avLst/>
            <a:gdLst>
              <a:gd name="connsiteX0" fmla="*/ 8514377 w 8514377"/>
              <a:gd name="connsiteY0" fmla="*/ 4473859 h 6482357"/>
              <a:gd name="connsiteX1" fmla="*/ 5035556 w 8514377"/>
              <a:gd name="connsiteY1" fmla="*/ 6482357 h 6482357"/>
              <a:gd name="connsiteX2" fmla="*/ 1109801 w 8514377"/>
              <a:gd name="connsiteY2" fmla="*/ 6482357 h 6482357"/>
              <a:gd name="connsiteX3" fmla="*/ 0 w 8514377"/>
              <a:gd name="connsiteY3" fmla="*/ 4560126 h 6482357"/>
              <a:gd name="connsiteX4" fmla="*/ 0 w 8514377"/>
              <a:gd name="connsiteY4" fmla="*/ 1470700 h 6482357"/>
              <a:gd name="connsiteX5" fmla="*/ 2547328 w 8514377"/>
              <a:gd name="connsiteY5" fmla="*/ 0 h 6482357"/>
              <a:gd name="connsiteX6" fmla="*/ 5931393 w 8514377"/>
              <a:gd name="connsiteY6" fmla="*/ 0 h 6482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14377" h="6482357">
                <a:moveTo>
                  <a:pt x="8514377" y="4473859"/>
                </a:moveTo>
                <a:lnTo>
                  <a:pt x="5035556" y="6482357"/>
                </a:lnTo>
                <a:lnTo>
                  <a:pt x="1109801" y="6482357"/>
                </a:lnTo>
                <a:lnTo>
                  <a:pt x="0" y="4560126"/>
                </a:lnTo>
                <a:lnTo>
                  <a:pt x="0" y="1470700"/>
                </a:lnTo>
                <a:lnTo>
                  <a:pt x="2547328" y="0"/>
                </a:lnTo>
                <a:lnTo>
                  <a:pt x="5931393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8327A7-341D-40E2-FE83-F00DE932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2194560"/>
            <a:ext cx="3621024" cy="2121408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4DD5641-C57E-F509-6D45-4612958140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155" y="393616"/>
            <a:ext cx="3539646" cy="6070600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12046-C0D1-8657-A169-8AE89D82B7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EE2E2-CE39-4B10-FFC4-3B077574EC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9EF72-F371-75B2-8BC8-2A3B1BBE25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9442780-F07F-F8E2-0DE6-A7FB6447AE5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2147" y="1177405"/>
            <a:ext cx="849017" cy="97803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ED62AC7-D4CF-F7E4-7EB6-B462EEB3FB1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4198" y="5028678"/>
            <a:ext cx="849017" cy="9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7471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37384A-AE12-9485-A46A-A67BD2D6D763}"/>
              </a:ext>
            </a:extLst>
          </p:cNvPr>
          <p:cNvSpPr/>
          <p:nvPr userDrawn="1"/>
        </p:nvSpPr>
        <p:spPr>
          <a:xfrm>
            <a:off x="803567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1B2BB6B9-EF29-3C73-2A3C-CF09EA6D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8923"/>
          <a:stretch/>
        </p:blipFill>
        <p:spPr>
          <a:xfrm>
            <a:off x="0" y="506925"/>
            <a:ext cx="5699870" cy="573388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8A5217E-2CE2-3F64-6AB4-EB0D30BE276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599873" y="1268006"/>
            <a:ext cx="849017" cy="97803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2FC963C-039A-17E9-178D-44753EC43F7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2897112" y="4722376"/>
            <a:ext cx="849017" cy="97803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AE4342B-3BF5-0F3A-721B-C761F0014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505456"/>
            <a:ext cx="3575304" cy="2331720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0975B60B-4328-7C87-7F8D-0730014D7A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44767" y="393616"/>
            <a:ext cx="4123944" cy="6070600"/>
          </a:xfrm>
        </p:spPr>
        <p:txBody>
          <a:bodyPr anchor="ctr"/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85C39-AC94-8C87-B244-34719C148A2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6E03E-A5BE-A491-2B5F-35AD90AE1C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6FD6C-9CEF-3304-8E48-7A8C282A27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61854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CC7A06-20DF-11B2-DBA3-4AD5A0782F72}"/>
              </a:ext>
            </a:extLst>
          </p:cNvPr>
          <p:cNvSpPr/>
          <p:nvPr userDrawn="1"/>
        </p:nvSpPr>
        <p:spPr>
          <a:xfrm>
            <a:off x="6711599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urple and blue gradient&#10;&#10;Description automatically generated">
            <a:extLst>
              <a:ext uri="{FF2B5EF4-FFF2-40B4-BE49-F238E27FC236}">
                <a16:creationId xmlns:a16="http://schemas.microsoft.com/office/drawing/2014/main" id="{7F2E8E22-8715-DC35-A1D6-9DE0F7D4E5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20146" y="430094"/>
            <a:ext cx="6635667" cy="555108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FA543A9-6610-874B-5B5A-83D92322A50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996376" y="1390616"/>
            <a:ext cx="849017" cy="97803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8BD6AF-5555-EEAD-E54D-5C0AD969A11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8522918" y="4778529"/>
            <a:ext cx="849017" cy="97803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C23DEBC-4628-999E-0CE4-A99E4EE0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D3C4B38-CA42-D6E7-A813-594FE780EB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3724" y="705888"/>
            <a:ext cx="4123944" cy="5758328"/>
          </a:xfrm>
        </p:spPr>
        <p:txBody>
          <a:bodyPr anchor="ctr"/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7106E-AE9C-748D-BFA7-A5C720C40C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05E23-DC2F-F555-BE36-6A4BA26749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624F6-261B-7F20-EE2A-8BE5871734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2979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F983AA-CC8F-F29A-16B4-FA97410056A9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7" name="Picture 6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E0936C36-F50A-1523-04B4-873B36EE90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4545" y="5588693"/>
            <a:ext cx="3077487" cy="126930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FF0649-2CAB-E241-1544-28122132EC7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405889" y="5226745"/>
            <a:ext cx="849017" cy="978035"/>
          </a:xfrm>
          <a:prstGeom prst="rect">
            <a:avLst/>
          </a:prstGeom>
        </p:spPr>
      </p:pic>
      <p:pic>
        <p:nvPicPr>
          <p:cNvPr id="9" name="Picture 8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A3D7DA26-5AF7-F723-8332-D397C9D4FE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4749" y="0"/>
            <a:ext cx="8497251" cy="29455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C212B63-01C0-9907-1952-5BD55C77E0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420682" y="255984"/>
            <a:ext cx="849017" cy="97803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39D6EFD-3D88-AC8E-C91F-AE704D5DC61D}"/>
              </a:ext>
            </a:extLst>
          </p:cNvPr>
          <p:cNvSpPr/>
          <p:nvPr userDrawn="1"/>
        </p:nvSpPr>
        <p:spPr>
          <a:xfrm>
            <a:off x="1161288" y="2121408"/>
            <a:ext cx="2606040" cy="2606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F4C90D2-BA10-F371-768C-4773A2DD0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216" y="1353312"/>
            <a:ext cx="5824728" cy="2459736"/>
          </a:xfrm>
        </p:spPr>
        <p:txBody>
          <a:bodyPr lIns="91440" rIns="91440" anchor="b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110A2D0-5263-97B9-023B-7DEE66187D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5588" y="2235708"/>
            <a:ext cx="2377440" cy="237744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34938F3-05CE-10DD-2D42-621C5ECDCB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14216" y="4050792"/>
            <a:ext cx="5824728" cy="11049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A4635-CD35-105A-54F6-571A5B6C469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2984F-04B1-F977-FBD2-4592E8E4D0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DD725-F823-F190-62A8-AC33F67CA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5DFBE14A-32CA-8A3F-8C86-D04E6B1DBA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5293775"/>
            <a:ext cx="2361321" cy="156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85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C984FB-85C6-3052-A9EA-F41806C314AF}"/>
              </a:ext>
            </a:extLst>
          </p:cNvPr>
          <p:cNvSpPr/>
          <p:nvPr userDrawn="1"/>
        </p:nvSpPr>
        <p:spPr>
          <a:xfrm>
            <a:off x="803565" y="1291472"/>
            <a:ext cx="9537638" cy="5249368"/>
          </a:xfrm>
          <a:prstGeom prst="rect">
            <a:avLst/>
          </a:prstGeom>
          <a:solidFill>
            <a:srgbClr val="C5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98EEF-CE97-B22D-6E75-D121E815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32556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766CFA5-68C3-F68B-7E95-753DDAE1E5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2498" y="1548481"/>
            <a:ext cx="8982675" cy="4736835"/>
          </a:xfrm>
          <a:custGeom>
            <a:avLst/>
            <a:gdLst>
              <a:gd name="connsiteX0" fmla="*/ 3400805 w 8982675"/>
              <a:gd name="connsiteY0" fmla="*/ 4656317 h 4736835"/>
              <a:gd name="connsiteX1" fmla="*/ 3768530 w 8982675"/>
              <a:gd name="connsiteY1" fmla="*/ 4708484 h 4736835"/>
              <a:gd name="connsiteX2" fmla="*/ 3854126 w 8982675"/>
              <a:gd name="connsiteY2" fmla="*/ 4736710 h 4736835"/>
              <a:gd name="connsiteX3" fmla="*/ 3352219 w 8982675"/>
              <a:gd name="connsiteY3" fmla="*/ 4736710 h 4736835"/>
              <a:gd name="connsiteX4" fmla="*/ 3267796 w 8982675"/>
              <a:gd name="connsiteY4" fmla="*/ 4658283 h 4736835"/>
              <a:gd name="connsiteX5" fmla="*/ 3400805 w 8982675"/>
              <a:gd name="connsiteY5" fmla="*/ 4656317 h 4736835"/>
              <a:gd name="connsiteX6" fmla="*/ 0 w 8982675"/>
              <a:gd name="connsiteY6" fmla="*/ 0 h 4736835"/>
              <a:gd name="connsiteX7" fmla="*/ 8982675 w 8982675"/>
              <a:gd name="connsiteY7" fmla="*/ 0 h 4736835"/>
              <a:gd name="connsiteX8" fmla="*/ 8982675 w 8982675"/>
              <a:gd name="connsiteY8" fmla="*/ 4736835 h 4736835"/>
              <a:gd name="connsiteX9" fmla="*/ 3950459 w 8982675"/>
              <a:gd name="connsiteY9" fmla="*/ 4736835 h 4736835"/>
              <a:gd name="connsiteX10" fmla="*/ 3788773 w 8982675"/>
              <a:gd name="connsiteY10" fmla="*/ 4674997 h 4736835"/>
              <a:gd name="connsiteX11" fmla="*/ 3228671 w 8982675"/>
              <a:gd name="connsiteY11" fmla="*/ 4623063 h 4736835"/>
              <a:gd name="connsiteX12" fmla="*/ 3132708 w 8982675"/>
              <a:gd name="connsiteY12" fmla="*/ 4545069 h 4736835"/>
              <a:gd name="connsiteX13" fmla="*/ 2691341 w 8982675"/>
              <a:gd name="connsiteY13" fmla="*/ 4402451 h 4736835"/>
              <a:gd name="connsiteX14" fmla="*/ 2104826 w 8982675"/>
              <a:gd name="connsiteY14" fmla="*/ 4577133 h 4736835"/>
              <a:gd name="connsiteX15" fmla="*/ 540354 w 8982675"/>
              <a:gd name="connsiteY15" fmla="*/ 3817187 h 4736835"/>
              <a:gd name="connsiteX16" fmla="*/ 0 w 8982675"/>
              <a:gd name="connsiteY16" fmla="*/ 3830433 h 473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982675" h="4736835">
                <a:moveTo>
                  <a:pt x="3400805" y="4656317"/>
                </a:moveTo>
                <a:cubicBezTo>
                  <a:pt x="3531347" y="4658926"/>
                  <a:pt x="3654347" y="4675523"/>
                  <a:pt x="3768530" y="4708484"/>
                </a:cubicBezTo>
                <a:cubicBezTo>
                  <a:pt x="3798214" y="4717150"/>
                  <a:pt x="3826726" y="4726559"/>
                  <a:pt x="3854126" y="4736710"/>
                </a:cubicBezTo>
                <a:lnTo>
                  <a:pt x="3352219" y="4736710"/>
                </a:lnTo>
                <a:cubicBezTo>
                  <a:pt x="3323028" y="4709289"/>
                  <a:pt x="3294579" y="4682734"/>
                  <a:pt x="3267796" y="4658283"/>
                </a:cubicBezTo>
                <a:cubicBezTo>
                  <a:pt x="3312939" y="4656132"/>
                  <a:pt x="3357291" y="4655448"/>
                  <a:pt x="3400805" y="4656317"/>
                </a:cubicBezTo>
                <a:close/>
                <a:moveTo>
                  <a:pt x="0" y="0"/>
                </a:moveTo>
                <a:lnTo>
                  <a:pt x="8982675" y="0"/>
                </a:lnTo>
                <a:lnTo>
                  <a:pt x="8982675" y="4736835"/>
                </a:lnTo>
                <a:lnTo>
                  <a:pt x="3950459" y="4736835"/>
                </a:lnTo>
                <a:cubicBezTo>
                  <a:pt x="3900904" y="4713870"/>
                  <a:pt x="3847214" y="4693133"/>
                  <a:pt x="3788773" y="4674997"/>
                </a:cubicBezTo>
                <a:cubicBezTo>
                  <a:pt x="3643810" y="4630924"/>
                  <a:pt x="3458920" y="4609197"/>
                  <a:pt x="3228671" y="4623063"/>
                </a:cubicBezTo>
                <a:cubicBezTo>
                  <a:pt x="3190841" y="4589513"/>
                  <a:pt x="3157763" y="4562153"/>
                  <a:pt x="3132708" y="4545069"/>
                </a:cubicBezTo>
                <a:cubicBezTo>
                  <a:pt x="3009900" y="4465156"/>
                  <a:pt x="2876972" y="4398675"/>
                  <a:pt x="2691341" y="4402451"/>
                </a:cubicBezTo>
                <a:cubicBezTo>
                  <a:pt x="2485283" y="4409074"/>
                  <a:pt x="2289531" y="4465898"/>
                  <a:pt x="2104826" y="4577133"/>
                </a:cubicBezTo>
                <a:cubicBezTo>
                  <a:pt x="1783304" y="4259153"/>
                  <a:pt x="1229373" y="3910408"/>
                  <a:pt x="540354" y="3817187"/>
                </a:cubicBezTo>
                <a:cubicBezTo>
                  <a:pt x="359907" y="3797131"/>
                  <a:pt x="179768" y="3802888"/>
                  <a:pt x="0" y="383043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pic>
        <p:nvPicPr>
          <p:cNvPr id="7" name="Picture 6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846F15F4-7014-4E14-56B7-56D54599BA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15" t="-15152"/>
          <a:stretch/>
        </p:blipFill>
        <p:spPr>
          <a:xfrm rot="10800000" flipH="1">
            <a:off x="7432159" y="-25812"/>
            <a:ext cx="4767411" cy="837980"/>
          </a:xfrm>
          <a:prstGeom prst="rect">
            <a:avLst/>
          </a:prstGeom>
        </p:spPr>
      </p:pic>
      <p:pic>
        <p:nvPicPr>
          <p:cNvPr id="9" name="Picture 8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3A669BB6-5B89-62EF-E05B-39C24D4741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963474" y="5867628"/>
            <a:ext cx="4983673" cy="990372"/>
          </a:xfrm>
          <a:prstGeom prst="rect">
            <a:avLst/>
          </a:prstGeom>
        </p:spPr>
      </p:pic>
      <p:pic>
        <p:nvPicPr>
          <p:cNvPr id="11" name="Picture 10" descr="A colorful gradient shapes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6B7DEE27-0CA8-84BE-2C04-6FDB3E58813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4753929"/>
            <a:ext cx="5788201" cy="210407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B0126E7-35C8-4EB5-B66B-D1260C4AE37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380" y="5498683"/>
            <a:ext cx="904680" cy="10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9695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53AAB7-5928-57F2-05DE-9C551FC2F2E3}"/>
              </a:ext>
            </a:extLst>
          </p:cNvPr>
          <p:cNvSpPr/>
          <p:nvPr userDrawn="1"/>
        </p:nvSpPr>
        <p:spPr>
          <a:xfrm>
            <a:off x="6711599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39496"/>
            <a:ext cx="5961888" cy="152704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B8C22E1-E317-84DE-8D3D-93F1009D05F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76072" y="2112264"/>
            <a:ext cx="2618541" cy="4197096"/>
          </a:xfrm>
        </p:spPr>
        <p:txBody>
          <a:bodyPr anchor="t"/>
          <a:lstStyle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7DB1F03-8346-3188-F1C7-B0A5E86F630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38728" y="2112264"/>
            <a:ext cx="2618541" cy="41970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EFF156F3-9A7D-EAA4-4F00-E693C2A3FE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385" b="-8059"/>
          <a:stretch/>
        </p:blipFill>
        <p:spPr>
          <a:xfrm rot="5400000">
            <a:off x="6813632" y="1479632"/>
            <a:ext cx="3355938" cy="740079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6828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7" y="539496"/>
            <a:ext cx="6038397" cy="143560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FEFF780-F9A6-D70C-43AF-EF361A89EE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0000" y="2112264"/>
            <a:ext cx="2880567" cy="4197096"/>
          </a:xfrm>
        </p:spPr>
        <p:txBody>
          <a:bodyPr anchor="t"/>
          <a:lstStyle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3AEFBC-F09B-894B-CD7A-F9C372585AF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370065" y="2112264"/>
            <a:ext cx="3118104" cy="41970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31B5D0-8E67-901E-73FB-36D970CB8F97}"/>
              </a:ext>
            </a:extLst>
          </p:cNvPr>
          <p:cNvSpPr/>
          <p:nvPr userDrawn="1"/>
        </p:nvSpPr>
        <p:spPr>
          <a:xfrm>
            <a:off x="711203" y="329416"/>
            <a:ext cx="2503051" cy="5979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EAB3AD9D-9B13-188E-617D-F178259609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2022196" y="2022197"/>
            <a:ext cx="6858000" cy="28136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57D6059-8E17-ABF1-8456-C15CE400B55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 flipV="1">
            <a:off x="1635889" y="4247231"/>
            <a:ext cx="904680" cy="10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0495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AB0126E7-35C8-4EB5-B66B-D1260C4AE37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380" y="5498683"/>
            <a:ext cx="904680" cy="10421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7647433-270D-5D45-29E0-608311CA9701}"/>
              </a:ext>
            </a:extLst>
          </p:cNvPr>
          <p:cNvSpPr>
            <a:spLocks/>
          </p:cNvSpPr>
          <p:nvPr userDrawn="1"/>
        </p:nvSpPr>
        <p:spPr>
          <a:xfrm>
            <a:off x="5621925" y="1468626"/>
            <a:ext cx="4641637" cy="5055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4F7496-C504-BB47-EC59-97AAA92A07B8}"/>
              </a:ext>
            </a:extLst>
          </p:cNvPr>
          <p:cNvSpPr/>
          <p:nvPr userDrawn="1"/>
        </p:nvSpPr>
        <p:spPr>
          <a:xfrm>
            <a:off x="803567" y="1460959"/>
            <a:ext cx="4641638" cy="5055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14" name="Picture 13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32B92FA5-A482-D296-0300-0D794E5A1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008"/>
          <a:stretch/>
        </p:blipFill>
        <p:spPr>
          <a:xfrm rot="10800000">
            <a:off x="0" y="4603898"/>
            <a:ext cx="6148843" cy="22541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898EEF-CE97-B22D-6E75-D121E815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27920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98A1FC94-DC76-4D72-16F0-88E8D61960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15568" y="1883664"/>
            <a:ext cx="4014216" cy="3511296"/>
          </a:xfrm>
        </p:spPr>
        <p:txBody>
          <a:bodyPr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defRPr lang="en-US" sz="1400" b="0" kern="1200" dirty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defRPr sz="1200"/>
            </a:lvl2pPr>
            <a:lvl3pPr>
              <a:buClr>
                <a:schemeClr val="tx2"/>
              </a:buCl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1E2BE2C-1D19-F2FC-F91E-A2C73325864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4456" y="1883664"/>
            <a:ext cx="4014216" cy="3511296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1400" b="1"/>
            </a:lvl1pPr>
            <a:lvl2pPr>
              <a:buClr>
                <a:schemeClr val="tx2"/>
              </a:buClr>
              <a:defRPr sz="1200"/>
            </a:lvl2pPr>
            <a:lvl3pPr>
              <a:buClr>
                <a:schemeClr val="tx2"/>
              </a:buClr>
              <a:defRPr sz="1200"/>
            </a:lvl3pPr>
            <a:lvl4pPr>
              <a:buClr>
                <a:schemeClr val="tx2"/>
              </a:buClr>
              <a:defRPr sz="1200"/>
            </a:lvl4pPr>
            <a:lvl5pPr>
              <a:buClr>
                <a:schemeClr val="tx2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28C8D-2511-191A-0965-7E441EDA27B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E08F2-413A-87D7-FC7E-FA7C3282F7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E8ED2-48AE-58D3-898D-1C9D6D65A7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29056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6" y="539496"/>
            <a:ext cx="6958584" cy="143560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31B5D0-8E67-901E-73FB-36D970CB8F97}"/>
              </a:ext>
            </a:extLst>
          </p:cNvPr>
          <p:cNvSpPr/>
          <p:nvPr userDrawn="1"/>
        </p:nvSpPr>
        <p:spPr>
          <a:xfrm>
            <a:off x="711203" y="329416"/>
            <a:ext cx="2503051" cy="5979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FEFF780-F9A6-D70C-43AF-EF361A89EE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0000" y="1965960"/>
            <a:ext cx="6629400" cy="85953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ACBEEE1-322A-B926-9005-21D1F3999AA9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4039564" y="2962656"/>
            <a:ext cx="6539835" cy="3227387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24AE729D-8A2D-FEFD-3B1F-8025FBBDD5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219" t="5197"/>
          <a:stretch>
            <a:fillRect/>
          </a:stretch>
        </p:blipFill>
        <p:spPr>
          <a:xfrm rot="14400000">
            <a:off x="-2171467" y="2562333"/>
            <a:ext cx="6626421" cy="4182149"/>
          </a:xfrm>
          <a:custGeom>
            <a:avLst/>
            <a:gdLst>
              <a:gd name="connsiteX0" fmla="*/ 6626421 w 6626421"/>
              <a:gd name="connsiteY0" fmla="*/ 4182149 h 4182149"/>
              <a:gd name="connsiteX1" fmla="*/ 1319145 w 6626421"/>
              <a:gd name="connsiteY1" fmla="*/ 4182149 h 4182149"/>
              <a:gd name="connsiteX2" fmla="*/ 0 w 6626421"/>
              <a:gd name="connsiteY2" fmla="*/ 3420540 h 4182149"/>
              <a:gd name="connsiteX3" fmla="*/ 1974850 w 6626421"/>
              <a:gd name="connsiteY3" fmla="*/ 0 h 4182149"/>
              <a:gd name="connsiteX4" fmla="*/ 6626421 w 6626421"/>
              <a:gd name="connsiteY4" fmla="*/ 2685586 h 418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26421" h="4182149">
                <a:moveTo>
                  <a:pt x="6626421" y="4182149"/>
                </a:moveTo>
                <a:lnTo>
                  <a:pt x="1319145" y="4182149"/>
                </a:lnTo>
                <a:lnTo>
                  <a:pt x="0" y="3420540"/>
                </a:lnTo>
                <a:lnTo>
                  <a:pt x="1974850" y="0"/>
                </a:lnTo>
                <a:lnTo>
                  <a:pt x="6626421" y="2685586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2DA2EC6-9201-16D6-4C20-0FB5854C2C3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273050" y="2512988"/>
            <a:ext cx="849017" cy="9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9584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43560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ACBEEE1-322A-B926-9005-21D1F3999AA9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804672" y="1472184"/>
            <a:ext cx="9537192" cy="3922776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colorful liquid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B9D6252C-CE9A-ABBD-43D8-62F708B2B2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-3380" y="5552387"/>
            <a:ext cx="3785031" cy="1310811"/>
          </a:xfrm>
          <a:prstGeom prst="rect">
            <a:avLst/>
          </a:prstGeom>
        </p:spPr>
      </p:pic>
      <p:pic>
        <p:nvPicPr>
          <p:cNvPr id="9" name="Picture 8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C975A1D6-EEFF-C8C1-AC72-68C09285D5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686580" y="-9167"/>
            <a:ext cx="5538171" cy="225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334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21AC4E5-2B89-481E-46B9-A867F5699CEE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C425D3D8-6FFB-E26C-2DDC-EAE565DDDD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76" t="13872" r="4114" b="8199"/>
          <a:stretch/>
        </p:blipFill>
        <p:spPr>
          <a:xfrm rot="10800000">
            <a:off x="-2" y="-2"/>
            <a:ext cx="10838727" cy="685800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B0B6FA5-0AFE-69A5-2CE6-27D1CBF5F0F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3365" y="1390616"/>
            <a:ext cx="849017" cy="97803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CA221E3-E5C1-6778-BDF2-B5527950BB3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2015" y="4219529"/>
            <a:ext cx="849017" cy="978035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8EF24DD3-EDCB-7DE8-426A-6EFA267D6B0C}"/>
              </a:ext>
            </a:extLst>
          </p:cNvPr>
          <p:cNvSpPr/>
          <p:nvPr userDrawn="1"/>
        </p:nvSpPr>
        <p:spPr>
          <a:xfrm>
            <a:off x="4233672" y="1527048"/>
            <a:ext cx="2606040" cy="2606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E4463-3EAA-4A1D-028E-15858531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688336"/>
            <a:ext cx="9464040" cy="2459736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958D5F2-B610-B25E-1D2D-71EC79D2A9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3400" y="1645920"/>
            <a:ext cx="2377440" cy="237744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1417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45D3B-A7CA-4751-B979-90553EDE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650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43512-71B9-49DF-A1D4-8CE3742E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1650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A98FF-2C58-4968-A1DC-0EBD6961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10260076" y="3233420"/>
            <a:ext cx="3098800" cy="594360"/>
          </a:xfrm>
          <a:prstGeom prst="rect">
            <a:avLst/>
          </a:prstGeom>
        </p:spPr>
        <p:txBody>
          <a:bodyPr vert="horz" lIns="0" tIns="45720" rIns="91440" bIns="45720" rtlCol="0" anchor="t"/>
          <a:lstStyle>
            <a:lvl1pPr algn="ctr">
              <a:defRPr sz="1200" b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93C2C-842E-4579-ABBB-7ED2CC0BA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274552" y="5632704"/>
            <a:ext cx="1069848" cy="594360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400" b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1359C3-8CE4-C25B-8E46-AFFF9EADFF92}"/>
              </a:ext>
            </a:extLst>
          </p:cNvPr>
          <p:cNvCxnSpPr/>
          <p:nvPr/>
        </p:nvCxnSpPr>
        <p:spPr>
          <a:xfrm>
            <a:off x="11091672" y="0"/>
            <a:ext cx="0" cy="6845701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9B11C67-3806-82B6-01D7-1583184D5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161152" y="745184"/>
            <a:ext cx="1296648" cy="59436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8288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113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74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3748" userDrawn="1">
          <p15:clr>
            <a:srgbClr val="F26B43"/>
          </p15:clr>
        </p15:guide>
        <p15:guide id="6" pos="3250" userDrawn="1">
          <p15:clr>
            <a:srgbClr val="F26B43"/>
          </p15:clr>
        </p15:guide>
        <p15:guide id="7" pos="443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4722E1-DC3F-7BE5-7E67-22CDD364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7585" y="2116689"/>
            <a:ext cx="5367528" cy="1505629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rgbClr val="FFFFFF"/>
                </a:solidFill>
                <a:cs typeface="Narkisim"/>
              </a:rPr>
              <a:t>FROZEN </a:t>
            </a:r>
            <a:r>
              <a:rPr lang="en-US" sz="4800">
                <a:cs typeface="Narkisim"/>
              </a:rPr>
              <a:t>SETS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2AEB26-71FF-4095-78AC-52B9E8A3BC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70352" y="3778132"/>
            <a:ext cx="5950233" cy="117344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600">
                <a:solidFill>
                  <a:schemeClr val="accent1">
                    <a:lumMod val="49000"/>
                  </a:schemeClr>
                </a:solidFill>
              </a:rPr>
              <a:t>   NAME  : MUSHKAN KUMARI</a:t>
            </a:r>
          </a:p>
          <a:p>
            <a:pPr algn="l"/>
            <a:r>
              <a:rPr lang="en-US" sz="2100" dirty="0">
                <a:solidFill>
                  <a:srgbClr val="FFFFFF"/>
                </a:solidFill>
              </a:rPr>
              <a:t>                  REG</a:t>
            </a:r>
            <a:r>
              <a:rPr lang="en-US" sz="2100"/>
              <a:t> NO.  : 25157159054</a:t>
            </a:r>
          </a:p>
          <a:p>
            <a:r>
              <a:rPr lang="en-US" sz="2100"/>
              <a:t>DEPARTMENT : COMPUTER SCIENCE (AIML)</a:t>
            </a:r>
          </a:p>
          <a:p>
            <a:r>
              <a:rPr lang="en-US" sz="2100"/>
              <a:t>GOVERNMENT ENGINEERING COLLEGE SAMSTIPUR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 descr="A logo with text and symbols&#10;&#10;AI-generated content may be incorrect.">
            <a:extLst>
              <a:ext uri="{FF2B5EF4-FFF2-40B4-BE49-F238E27FC236}">
                <a16:creationId xmlns:a16="http://schemas.microsoft.com/office/drawing/2014/main" id="{D441FC94-4886-C3EB-30EA-F51755E0F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202" y="1705725"/>
            <a:ext cx="2146179" cy="19126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7336585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25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B31D1-0943-E9E7-BA28-8069A60E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1E5DD4-BBF7-F550-6B1C-F97C8EB95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747" y="2046158"/>
            <a:ext cx="4568375" cy="2121408"/>
          </a:xfrm>
        </p:spPr>
        <p:txBody>
          <a:bodyPr>
            <a:normAutofit/>
          </a:bodyPr>
          <a:lstStyle/>
          <a:p>
            <a:r>
              <a:rPr lang="en-US" sz="4400">
                <a:cs typeface="Narkisim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5639EA-9909-7861-2F71-5E52B05623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63222" y="1041677"/>
            <a:ext cx="4311915" cy="4129802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sz="2400" dirty="0"/>
              <a:t>What is frozen </a:t>
            </a:r>
            <a:r>
              <a:rPr lang="en-US" sz="2400"/>
              <a:t>sets?</a:t>
            </a:r>
            <a:endParaRPr lang="en-US" sz="2400" dirty="0"/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/>
              <a:t>A frozen sets is an </a:t>
            </a:r>
            <a:r>
              <a:rPr lang="en-US" dirty="0"/>
              <a:t>immutable version of a sets in python set.</a:t>
            </a:r>
            <a:endParaRPr lang="en-US"/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/>
              <a:t>It stores unique elements.</a:t>
            </a:r>
            <a:endParaRPr lang="en-US" dirty="0"/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dirty="0"/>
              <a:t>Elements cannot be modified after creation.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/>
              <a:t>It supports most set operations like union, intersection, etc</a:t>
            </a:r>
            <a:r>
              <a:rPr lang="en-US" dirty="0"/>
              <a:t>.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/>
              <a:t>syntax:</a:t>
            </a:r>
            <a:endParaRPr lang="en-US" dirty="0"/>
          </a:p>
          <a:p>
            <a:r>
              <a:rPr lang="en-US" dirty="0"/>
              <a:t>            </a:t>
            </a:r>
            <a:r>
              <a:rPr lang="en-US" dirty="0" err="1"/>
              <a:t>Frozenset</a:t>
            </a:r>
            <a:r>
              <a:rPr lang="en-US" dirty="0"/>
              <a:t>(</a:t>
            </a:r>
            <a:r>
              <a:rPr lang="en-US" dirty="0" err="1"/>
              <a:t>iterable</a:t>
            </a:r>
            <a:r>
              <a:rPr lang="en-US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4A1111-7B71-743E-38EE-D211E0921C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99714" y="5632704"/>
            <a:ext cx="544686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4924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80A29B-87B6-29C9-2295-D36B76DC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>
            <a:normAutofit/>
          </a:bodyPr>
          <a:lstStyle/>
          <a:p>
            <a:r>
              <a:rPr lang="en-US" sz="4000">
                <a:cs typeface="Narkisim"/>
              </a:rPr>
              <a:t>SYNTAX</a:t>
            </a:r>
            <a:endParaRPr lang="en-US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883BF-4B40-D127-19A6-0A65D2A25EA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3724" y="705888"/>
            <a:ext cx="4123944" cy="5758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/>
              <a:t>Syntax </a:t>
            </a:r>
          </a:p>
          <a:p>
            <a:pPr marL="0" indent="0">
              <a:buNone/>
            </a:pPr>
            <a:r>
              <a:rPr lang="en-US" dirty="0" err="1"/>
              <a:t>Frozenset</a:t>
            </a:r>
            <a:r>
              <a:rPr lang="en-US" dirty="0"/>
              <a:t>(</a:t>
            </a:r>
            <a:r>
              <a:rPr lang="en-US" dirty="0" err="1"/>
              <a:t>iterable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sz="2400" b="1"/>
              <a:t>Example 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Fs = </a:t>
            </a:r>
            <a:r>
              <a:rPr lang="en-US" dirty="0" err="1"/>
              <a:t>frozenset</a:t>
            </a:r>
            <a:r>
              <a:rPr lang="en-US" dirty="0"/>
              <a:t>([1 ,2, 3])</a:t>
            </a:r>
          </a:p>
          <a:p>
            <a:pPr marL="0" indent="0">
              <a:buNone/>
            </a:pPr>
            <a:r>
              <a:rPr lang="en-US"/>
              <a:t>print(fs)</a:t>
            </a:r>
          </a:p>
          <a:p>
            <a:pPr marL="0" indent="0">
              <a:buNone/>
            </a:pPr>
            <a:r>
              <a:rPr lang="en-US" sz="2400" b="1"/>
              <a:t>Output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 dirty="0" err="1"/>
              <a:t>Frozenset</a:t>
            </a:r>
            <a:r>
              <a:rPr lang="en-US" dirty="0"/>
              <a:t>({1, 2, 3})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1FC143-FA9C-6F20-7583-F7B0FA8FF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73173" y="5632704"/>
            <a:ext cx="771227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2317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75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25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2800E4-16F4-4C03-CA7F-B04CEF62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371591"/>
            <a:ext cx="3575304" cy="2331720"/>
          </a:xfrm>
        </p:spPr>
        <p:txBody>
          <a:bodyPr>
            <a:normAutofit/>
          </a:bodyPr>
          <a:lstStyle/>
          <a:p>
            <a:r>
              <a:rPr lang="en-US" sz="4800">
                <a:cs typeface="Narkisim"/>
              </a:rPr>
              <a:t>Features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F9B83-490C-3390-781C-B483ED3B5FB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94858" y="1086343"/>
            <a:ext cx="4123944" cy="60706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2E64"/>
                </a:solidFill>
              </a:rPr>
              <a:t>Immutable : You cannot add or remove elements. </a:t>
            </a:r>
          </a:p>
          <a:p>
            <a:r>
              <a:rPr lang="en-US" b="1" dirty="0"/>
              <a:t>Stores only unique </a:t>
            </a:r>
            <a:r>
              <a:rPr lang="en-US" b="1"/>
              <a:t>value</a:t>
            </a:r>
            <a:r>
              <a:rPr lang="en-US" b="1" dirty="0"/>
              <a:t> : Duplicate values are automatically removed.</a:t>
            </a:r>
          </a:p>
          <a:p>
            <a:r>
              <a:rPr lang="en-US" b="1"/>
              <a:t>Unordered collection</a:t>
            </a:r>
            <a:endParaRPr lang="en-US" b="1" dirty="0"/>
          </a:p>
          <a:p>
            <a:r>
              <a:rPr lang="en-US" b="1" dirty="0" err="1"/>
              <a:t>Hashable</a:t>
            </a:r>
            <a:r>
              <a:rPr lang="en-US" b="1" dirty="0"/>
              <a:t> : It can be used as dictionary keys or elements inside another set.</a:t>
            </a:r>
          </a:p>
          <a:p>
            <a:r>
              <a:rPr lang="en-US" b="1"/>
              <a:t>Supports set operation</a:t>
            </a:r>
            <a:endParaRPr lang="en-US" b="1" dirty="0"/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2EA1C7-D3E0-3A85-A153-33043FCC3D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90795" y="5632704"/>
            <a:ext cx="853605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7510A-0BA1-9FE7-AF90-C2FF0AB02727}"/>
              </a:ext>
            </a:extLst>
          </p:cNvPr>
          <p:cNvSpPr txBox="1"/>
          <p:nvPr/>
        </p:nvSpPr>
        <p:spPr>
          <a:xfrm>
            <a:off x="5976187" y="678456"/>
            <a:ext cx="4778062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MAIN </a:t>
            </a:r>
            <a:r>
              <a:rPr lang="en-US" sz="3200" b="1"/>
              <a:t>FEATURES OF FROZEN SETS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53487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88C0E-9DE8-3F43-7B75-284F3B449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7C4B64-C5D7-52B9-D086-7331444D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sz="4000">
                <a:cs typeface="Narkisim"/>
              </a:rPr>
              <a:t>ADVANTAGES &amp; </a:t>
            </a:r>
            <a:br>
              <a:rPr lang="en-US" sz="4000" dirty="0">
                <a:cs typeface="Narkisim"/>
              </a:rPr>
            </a:br>
            <a:r>
              <a:rPr lang="en-US" sz="4000">
                <a:cs typeface="Narkisim"/>
              </a:rPr>
              <a:t>LIMITATIONS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A4CEA-FF58-B7DE-7837-A84576DE0D1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3724" y="1102546"/>
            <a:ext cx="4123944" cy="575832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/>
              <a:t>Prevents accidental changes</a:t>
            </a:r>
          </a:p>
          <a:p>
            <a:r>
              <a:rPr lang="en-US" dirty="0"/>
              <a:t>Secure for </a:t>
            </a:r>
            <a:r>
              <a:rPr lang="en-US"/>
              <a:t>constant data</a:t>
            </a:r>
            <a:endParaRPr lang="en-US" dirty="0"/>
          </a:p>
          <a:p>
            <a:r>
              <a:rPr lang="en-US" dirty="0"/>
              <a:t>Supports mathematical set </a:t>
            </a:r>
            <a:r>
              <a:rPr lang="en-US"/>
              <a:t>operation</a:t>
            </a:r>
          </a:p>
          <a:p>
            <a:r>
              <a:rPr lang="en-US" dirty="0"/>
              <a:t>Can be used as </a:t>
            </a:r>
            <a:r>
              <a:rPr lang="en-US"/>
              <a:t>dictionary keys </a:t>
            </a:r>
          </a:p>
          <a:p>
            <a:r>
              <a:rPr lang="en-US" dirty="0"/>
              <a:t>Useful in nested </a:t>
            </a:r>
            <a:r>
              <a:rPr lang="en-US"/>
              <a:t>sets </a:t>
            </a:r>
          </a:p>
          <a:p>
            <a:endParaRPr lang="en-US" dirty="0"/>
          </a:p>
          <a:p>
            <a:r>
              <a:rPr lang="en-US"/>
              <a:t>Cannot add elements </a:t>
            </a:r>
          </a:p>
          <a:p>
            <a:r>
              <a:rPr lang="en-US"/>
              <a:t>Cannot remove elements</a:t>
            </a:r>
          </a:p>
          <a:p>
            <a:r>
              <a:rPr lang="en-US"/>
              <a:t>Less flexible than normal sets</a:t>
            </a:r>
          </a:p>
          <a:p>
            <a:r>
              <a:rPr lang="en-US"/>
              <a:t>Method not supported:</a:t>
            </a:r>
          </a:p>
          <a:p>
            <a:r>
              <a:rPr lang="en-US"/>
              <a:t>Add()</a:t>
            </a:r>
          </a:p>
          <a:p>
            <a:r>
              <a:rPr lang="en-US"/>
              <a:t>Remove()</a:t>
            </a:r>
          </a:p>
          <a:p>
            <a:r>
              <a:rPr lang="en-US"/>
              <a:t>Update()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DCB71-F651-122F-2F1C-B605905E9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8833F-ECED-D04B-2EB0-DB273FDCD7E6}"/>
              </a:ext>
            </a:extLst>
          </p:cNvPr>
          <p:cNvSpPr txBox="1"/>
          <p:nvPr/>
        </p:nvSpPr>
        <p:spPr>
          <a:xfrm>
            <a:off x="360881" y="580978"/>
            <a:ext cx="606014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Advantages of </a:t>
            </a:r>
            <a:r>
              <a:rPr lang="en-US" sz="2800" b="1"/>
              <a:t>frozen sets</a:t>
            </a:r>
            <a:endParaRPr lang="en-US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B8AD4C-B4A0-7D82-03E3-BDC7898DE114}"/>
              </a:ext>
            </a:extLst>
          </p:cNvPr>
          <p:cNvSpPr txBox="1"/>
          <p:nvPr/>
        </p:nvSpPr>
        <p:spPr>
          <a:xfrm>
            <a:off x="364877" y="3391424"/>
            <a:ext cx="45470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Limitation of </a:t>
            </a:r>
            <a:r>
              <a:rPr lang="en-US" sz="2800" b="1"/>
              <a:t>frozen sets</a:t>
            </a:r>
          </a:p>
        </p:txBody>
      </p:sp>
    </p:spTree>
    <p:extLst>
      <p:ext uri="{BB962C8B-B14F-4D97-AF65-F5344CB8AC3E}">
        <p14:creationId xmlns:p14="http://schemas.microsoft.com/office/powerpoint/2010/main" val="3009447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build="p"/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DFE2EB-E85E-8271-3745-DEF147D6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2194560"/>
            <a:ext cx="3621024" cy="2121408"/>
          </a:xfrm>
        </p:spPr>
        <p:txBody>
          <a:bodyPr/>
          <a:lstStyle/>
          <a:p>
            <a:r>
              <a:rPr lang="en-US" sz="4000">
                <a:cs typeface="Narkisim"/>
              </a:rPr>
              <a:t>REAL-LIFE USE </a:t>
            </a:r>
            <a:r>
              <a:rPr lang="en-US" sz="4400">
                <a:cs typeface="Narkisim"/>
              </a:rPr>
              <a:t>CASE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A62475-D8EF-C209-2D24-C02F49DF00B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71610" y="727932"/>
            <a:ext cx="4682645" cy="50656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Where</a:t>
            </a:r>
            <a:r>
              <a:rPr lang="en-US" sz="2800" dirty="0"/>
              <a:t> frozen sets are </a:t>
            </a:r>
            <a:r>
              <a:rPr lang="en-US" sz="2800"/>
              <a:t>used</a:t>
            </a:r>
            <a:endParaRPr lang="en-US"/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/>
              <a:t> Storing constant data:</a:t>
            </a:r>
            <a:endParaRPr lang="en-US" dirty="0"/>
          </a:p>
          <a:p>
            <a:pPr algn="ctr"/>
            <a:r>
              <a:rPr lang="en-US" dirty="0"/>
              <a:t>A school has fixed subjects like English,  Hindi and </a:t>
            </a:r>
            <a:r>
              <a:rPr lang="en-US" dirty="0" err="1"/>
              <a:t>Maths</a:t>
            </a:r>
            <a:endParaRPr lang="en-US"/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/>
              <a:t>Dictionary keys 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dirty="0"/>
              <a:t>Data security </a:t>
            </a:r>
            <a:r>
              <a:rPr lang="en-US"/>
              <a:t>computation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dirty="0"/>
              <a:t>Mathematical computation like union, intersection, difference, </a:t>
            </a:r>
            <a:r>
              <a:rPr lang="en-US"/>
              <a:t>etc</a:t>
            </a:r>
            <a:r>
              <a:rPr lang="en-US" dirty="0"/>
              <a:t>.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/>
              <a:t>Permission control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60C5A9-5FB1-4852-0619-9ACA3D519B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77525" y="5931325"/>
            <a:ext cx="812416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382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6A940-6865-A750-F8F1-5F93095EC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E567C9-4645-1B65-0EB2-6DEFCC2DF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739" y="1868467"/>
            <a:ext cx="3502152" cy="2600254"/>
          </a:xfrm>
        </p:spPr>
        <p:txBody>
          <a:bodyPr>
            <a:normAutofit/>
          </a:bodyPr>
          <a:lstStyle/>
          <a:p>
            <a:r>
              <a:rPr lang="en-US" sz="4000">
                <a:cs typeface="Narkisim"/>
              </a:rPr>
              <a:t>CONCLUSION</a:t>
            </a:r>
            <a:endParaRPr lang="en-US" sz="4000" dirty="0">
              <a:cs typeface="Narkisi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AE8B9-DAF5-2FC5-7BB8-483B700080C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2000" b="1" dirty="0"/>
              <a:t>Frozen set is an immutable </a:t>
            </a:r>
            <a:r>
              <a:rPr lang="en-US" sz="2000" b="1" dirty="0" err="1"/>
              <a:t>set in</a:t>
            </a:r>
            <a:r>
              <a:rPr lang="en-US" sz="2000" b="1" dirty="0"/>
              <a:t> python.</a:t>
            </a:r>
            <a:endParaRPr lang="en-US" sz="2000" b="1">
              <a:solidFill>
                <a:srgbClr val="002E64"/>
              </a:solidFill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000" b="1" dirty="0"/>
              <a:t>Created using </a:t>
            </a:r>
            <a:r>
              <a:rPr lang="en-US" sz="2000" b="1" dirty="0" err="1"/>
              <a:t>frozensets</a:t>
            </a:r>
            <a:r>
              <a:rPr lang="en-US" sz="2000" b="1" dirty="0"/>
              <a:t>().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2000" b="1" dirty="0"/>
              <a:t>Stores unique elem</a:t>
            </a:r>
            <a:r>
              <a:rPr lang="en-US" sz="2000" b="1"/>
              <a:t>ents.</a:t>
            </a:r>
            <a:endParaRPr lang="en-US" sz="2000" b="1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000" b="1"/>
              <a:t>Supports set operation.</a:t>
            </a:r>
            <a:endParaRPr lang="en-US" sz="2000" b="1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000" b="1" dirty="0"/>
              <a:t>Useful when data should remain </a:t>
            </a:r>
            <a:r>
              <a:rPr lang="en-US" sz="2000" b="1"/>
              <a:t>unchanged</a:t>
            </a:r>
            <a:r>
              <a:rPr lang="en-US" sz="2000" b="1" dirty="0"/>
              <a:t>.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A9880-FD45-7261-6000-1BB1A29471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90795" y="5869542"/>
            <a:ext cx="853605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3258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B60F6F-E490-BF7A-A8DB-59FD2206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688336"/>
            <a:ext cx="9464040" cy="2459736"/>
          </a:xfrm>
        </p:spPr>
        <p:txBody>
          <a:bodyPr>
            <a:normAutofit/>
          </a:bodyPr>
          <a:lstStyle/>
          <a:p>
            <a:r>
              <a:rPr lang="en-US" sz="4000" dirty="0"/>
              <a:t>Thank You</a:t>
            </a:r>
            <a:endParaRPr lang="en-US" sz="4000" dirty="0">
              <a:cs typeface="Narkisim"/>
            </a:endParaRPr>
          </a:p>
        </p:txBody>
      </p:sp>
      <p:pic>
        <p:nvPicPr>
          <p:cNvPr id="6" name="Picture Placeholder 5" descr="Angel face outline with solid fill">
            <a:extLst>
              <a:ext uri="{FF2B5EF4-FFF2-40B4-BE49-F238E27FC236}">
                <a16:creationId xmlns:a16="http://schemas.microsoft.com/office/drawing/2014/main" id="{0C606C12-484B-2AD1-936D-1D0A317C8B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43400" y="1841569"/>
            <a:ext cx="2377440" cy="2377440"/>
          </a:xfrm>
        </p:spPr>
      </p:pic>
    </p:spTree>
    <p:extLst>
      <p:ext uri="{BB962C8B-B14F-4D97-AF65-F5344CB8AC3E}">
        <p14:creationId xmlns:p14="http://schemas.microsoft.com/office/powerpoint/2010/main" val="6438017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Custom">
  <a:themeElements>
    <a:clrScheme name="Custom 415">
      <a:dk1>
        <a:srgbClr val="3B3B3B"/>
      </a:dk1>
      <a:lt1>
        <a:sysClr val="window" lastClr="FFFFFF"/>
      </a:lt1>
      <a:dk2>
        <a:srgbClr val="262626"/>
      </a:dk2>
      <a:lt2>
        <a:srgbClr val="C07400"/>
      </a:lt2>
      <a:accent1>
        <a:srgbClr val="005CC9"/>
      </a:accent1>
      <a:accent2>
        <a:srgbClr val="008EDC"/>
      </a:accent2>
      <a:accent3>
        <a:srgbClr val="3DA800"/>
      </a:accent3>
      <a:accent4>
        <a:srgbClr val="7030A0"/>
      </a:accent4>
      <a:accent5>
        <a:srgbClr val="B92AD6"/>
      </a:accent5>
      <a:accent6>
        <a:srgbClr val="1F7100"/>
      </a:accent6>
      <a:hlink>
        <a:srgbClr val="D30F00"/>
      </a:hlink>
      <a:folHlink>
        <a:srgbClr val="D30F00"/>
      </a:folHlink>
    </a:clrScheme>
    <a:fontScheme name="Custom 2">
      <a:majorFont>
        <a:latin typeface="Narkisim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1"/>
            </a:gs>
            <a:gs pos="100000">
              <a:schemeClr val="tx2"/>
            </a:gs>
          </a:gsLst>
          <a:lin ang="36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931380_win32_KB_V5" id="{1B786C8D-2177-4A5A-9718-032A412214C6}" vid="{EA647B36-C19D-492E-9711-2F7B3523F3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EA27D8E-DE3D-481C-905D-44ADCF801F7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C9F46F3-DDE7-46C7-84BC-59C1156F2B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450B55-B496-4B49-9DD2-B71AB023CAA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459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Custom</vt:lpstr>
      <vt:lpstr>FROZEN SETS</vt:lpstr>
      <vt:lpstr>INTRODUCTION</vt:lpstr>
      <vt:lpstr>SYNTAX</vt:lpstr>
      <vt:lpstr>Features </vt:lpstr>
      <vt:lpstr>ADVANTAGES &amp;  LIMITATIONS</vt:lpstr>
      <vt:lpstr>REAL-LIFE USE CASE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751</cp:revision>
  <dcterms:created xsi:type="dcterms:W3CDTF">2026-05-30T03:03:35Z</dcterms:created>
  <dcterms:modified xsi:type="dcterms:W3CDTF">2026-05-30T08:06:57Z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